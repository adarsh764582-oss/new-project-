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457200"/>
            <a:ext cx="2560320" cy="4206240"/>
          </a:xfrm>
          <a:prstGeom prst="rect">
            <a:avLst/>
          </a:prstGeom>
          <a:solidFill>
            <a:srgbClr val="0D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📊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28600" y="2926080"/>
            <a:ext cx="25603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548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 Campaign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108960" y="1143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Prediction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108960" y="187452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Apparel Company — Marketing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651760"/>
            <a:ext cx="1325880" cy="1097280"/>
          </a:xfrm>
          <a:prstGeom prst="rect">
            <a:avLst/>
          </a:prstGeom>
          <a:solidFill>
            <a:srgbClr val="0D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08960" y="3246120"/>
            <a:ext cx="1325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Records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651760"/>
            <a:ext cx="1325880" cy="1097280"/>
          </a:xfrm>
          <a:prstGeom prst="rect">
            <a:avLst/>
          </a:prstGeom>
          <a:solidFill>
            <a:srgbClr val="0D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3246120"/>
            <a:ext cx="1325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651760"/>
            <a:ext cx="1325880" cy="1097280"/>
          </a:xfrm>
          <a:prstGeom prst="rect">
            <a:avLst/>
          </a:prstGeom>
          <a:solidFill>
            <a:srgbClr val="0D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3246120"/>
            <a:ext cx="1325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 Score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2651760"/>
            <a:ext cx="1325880" cy="1097280"/>
          </a:xfrm>
          <a:prstGeom prst="rect">
            <a:avLst/>
          </a:prstGeom>
          <a:solidFill>
            <a:srgbClr val="0D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0" y="3246120"/>
            <a:ext cx="1325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Tested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0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73152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155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4813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orders generated by ad campaigns before launch, enabling data-driven budget allocation and strategy optimization.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155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4813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historical campaign records across 10 original features including campaign type, budget, email rate, pricing, and discount strategy.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971800"/>
            <a:ext cx="73152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81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Approach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EDA → Feature engineering → Training 4 ML algorithms → Selecting best model based on R², RMSE, and MAE.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73152" cy="1783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081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achieves R²=0.9352, predicting orders with a mean error of only 177 orders — ready for pre-launch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Feature Descriptions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02336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188720"/>
                <a:gridCol w="493776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campaign_fee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33,380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budget allocated to the campaign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hour_resouces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3,410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hours invested in campaign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email_rate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 – 0.84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open / click-through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resource_amount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allocation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 – 0.98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discount factor applied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197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listing 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Type/channel of the campaign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campaign_level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tier (standard / premium)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limit_infor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restriction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– 8,714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generated — KPI to predict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Target Variable Distribution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86868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4480560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01752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Orders roughly follow a near-normal distribution centered at ~4,531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46120" y="4480560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19272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Range spans 22 to 8,714 — significant variability to model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4480560"/>
            <a:ext cx="28346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36792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Low skewness suggests stable, well-behaved target variable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53035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777240"/>
            <a:ext cx="310896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Orders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61888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campaign_fee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78040" y="1261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61888" y="1508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predictor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61888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hour_resouces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78040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61888" y="2075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positive correlation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61888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email_rate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78040" y="23957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61888" y="26426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drives orders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61888" y="2962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resource_amount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78040" y="2962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61888" y="32095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investment matters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61888" y="3529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product_level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78040" y="35295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61888" y="3776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tier → more orders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961888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78040" y="4096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61888" y="43434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 slightly reduces orders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Relationships with Orders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6868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scatter plot includes a linear trend line. Red dashed = positive/negative linear relationship. Tighter clusters indicate stronger predictive signal.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Type, Level &amp; Product Level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86868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4370832"/>
            <a:ext cx="2834640" cy="5943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01752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Campaign Type 2 — Highest Avg Orders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46120" y="4370832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19272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Campaign Level 1 — Premium = more orders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4370832"/>
            <a:ext cx="28346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36792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Level 1 — Broadest audience reach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Derived Variables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8686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fee_per_hour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campaign_fee ÷ (hour_resouces + 1)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1051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spend efficiency per hour invested. Captures diminishing returns on campaign budget relative to time.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1234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−0.373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240280"/>
            <a:ext cx="8686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40280"/>
            <a:ext cx="6400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price_discounted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price × discount_rate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3317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effective consumer-facing price after discount. Captures the true value proposition offered.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+0.092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520440"/>
            <a:ext cx="8686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520440"/>
            <a:ext cx="64008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11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email_x_resource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email_rate × resource_amount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3611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engagement reach metric. High email engagement combined with large resource allocation amplifies exposure.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+0.579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Performance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64008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777240"/>
            <a:ext cx="2011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03720" y="822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76288" y="1234440"/>
            <a:ext cx="1975104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1271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49440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-0.578  |  RMSE: 2439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76288" y="2103120"/>
            <a:ext cx="1975104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0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4944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0.886  |  RMSE: 657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6288" y="2971800"/>
            <a:ext cx="1975104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4944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9440" y="3319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0.935  |  RMSE: 494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76288" y="3840480"/>
            <a:ext cx="1975104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94944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0.918  |  RMSE: 557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Random Forest: Actual vs Predicted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77240"/>
            <a:ext cx="493776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77724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94960" y="77724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8503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57784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— 93.5% variance explained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94960" y="182880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1828800"/>
            <a:ext cx="64008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9019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57784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orders — avg model error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0" y="288036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2880360"/>
            <a:ext cx="64008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9535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57784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orders — mean abs error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94960" y="393192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94960" y="3931920"/>
            <a:ext cx="64008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40050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0.93±0.01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577840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— 5-fold cross-validation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— What Drives Orders?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54864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777240"/>
            <a:ext cx="301752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Predictors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9320" y="12618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campaign_fee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1040" y="1261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55080" y="1536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driver — budget size controls reach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989320" y="1965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5508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hour_resouces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21040" y="1965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investment compounds campaign quality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989320" y="26700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5508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fee_per_hour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21040" y="26700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55080" y="2944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— engineered feature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89320" y="3374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55080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email_rate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21040" y="3374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55080" y="3648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quality signals purchase intent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989320" y="40782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55080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321040" y="4078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55080" y="43525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affects conversion rate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Diagnostics — Residual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6868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4572000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Text 3"/>
          <p:cNvSpPr/>
          <p:nvPr/>
        </p:nvSpPr>
        <p:spPr>
          <a:xfrm>
            <a:off x="301752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  Homoscedasticity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01752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uniformly spread — no funnel pattern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00400" y="4572000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Text 6"/>
          <p:cNvSpPr/>
          <p:nvPr/>
        </p:nvSpPr>
        <p:spPr>
          <a:xfrm>
            <a:off x="3273552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  Zero Mean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73552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centered near zero — no systematic bias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72200" y="4572000"/>
            <a:ext cx="2834640" cy="5029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6245352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  Normality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45352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distribution — valid inference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Marketing Teams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" y="1645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966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Prioritize Budget Allocation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6245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campaign_fee is the single strongest predictor (42.8% importance). Increase budget for high-potential campaigns and reduce for underperformers before launch.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60120"/>
            <a:ext cx="278892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966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Invest in Campaign Hours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36245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hour_resouces ranks 2nd in importance. Campaigns with dedicated execution time significantly outperform under-staffed ones. Don't rush timelines.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78892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966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Optimize Email 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36245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rate (r=0.628 with orders) is a controllable lever. Invest in email list quality, segmentation, and A/B testing subject lines before campaign launch.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34640"/>
            <a:ext cx="2788920" cy="32918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Target Lower Product Levels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23697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Level 1 generates the most orders on average. Campaigns on accessible, lower-tier products capture broader audiences and convert better.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834640"/>
            <a:ext cx="27889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Deploy Model Pre-Launch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323697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R²=0.9352, the model reliably forecasts campaign KPIs. Integrate into campaign planning workflow to simulate performance before committing budgets.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788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34640"/>
            <a:ext cx="278892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Monitor &amp; Retrain Quarterly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23697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quarterly with new campaign data to capture seasonal trends and shifting consumer behavior patterns. Track model drift metrics.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Next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Regressor achieves R²=0.935, explaining 93.5% of order variance with a mean error of only 177 orders.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budget (fee), execution time (hours), and email engagement are the top three controllable performance levers.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88336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8833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added meaningful signal — particularly fee_per_hour as a campaign efficiency metric.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346704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4670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passes all residual diagnostics and cross-validation checks, confirming robust generalization.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1234440"/>
            <a:ext cx="3017520" cy="3474720"/>
          </a:xfrm>
          <a:prstGeom prst="rect">
            <a:avLst/>
          </a:prstGeom>
          <a:solidFill>
            <a:srgbClr val="0D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810512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Integrate model into pre-launch planning tool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Build live dashboard for KPI monitoring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A/B test top-recommended campaign configurations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Schedule quarterly model retraining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Outdoor Apparel Co.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Ad Campaign Performance Prediction</dc:title>
  <dc:subject>PptxGenJS Presentation</dc:subject>
  <dc:creator>Data Science Team</dc:creator>
  <cp:lastModifiedBy>Data Science Team</cp:lastModifiedBy>
  <cp:revision>1</cp:revision>
  <dcterms:created xsi:type="dcterms:W3CDTF">2026-05-27T01:15:04Z</dcterms:created>
  <dcterms:modified xsi:type="dcterms:W3CDTF">2026-05-27T01:15:04Z</dcterms:modified>
</cp:coreProperties>
</file>